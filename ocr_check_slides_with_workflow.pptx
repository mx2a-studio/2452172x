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314E"/>
                </a:solidFill>
                <a:latin typeface="Yu Gothic"/>
              </a:defRPr>
            </a:pPr>
            <a:r>
              <a:t>乗換キャッシュバック エビデンスOCRチェックツール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10881360" cy="32004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8291"/>
                </a:solidFill>
                <a:latin typeface="Yu Gothic"/>
              </a:defRPr>
            </a:pPr>
            <a:r>
              <a:t>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314E"/>
                </a:solidFill>
                <a:latin typeface="Yu Gothic"/>
              </a:defRPr>
            </a:pPr>
            <a:r>
              <a:t>エビデンス確認業務の効率化およびチェック品質の向上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34E5B"/>
                </a:solidFill>
                <a:latin typeface="Yu Gothic"/>
              </a:defRPr>
            </a:pPr>
            <a:r>
              <a:t>作成者：浅井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314E"/>
                </a:solidFill>
                <a:latin typeface="Yu Gothic"/>
              </a:defRPr>
            </a:pPr>
            <a:r>
              <a:t>背景・課題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10881360" cy="32004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291"/>
                </a:solidFill>
                <a:latin typeface="Yu Gothic"/>
              </a:defRPr>
            </a:pPr>
            <a:r>
              <a:t>現状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34E5B"/>
                </a:solidFill>
                <a:latin typeface="Yu Gothic"/>
              </a:defRPr>
            </a:pPr>
            <a:r>
              <a:t>エビデンス（PDF・画像）について、担当者が目視で確認を行っている。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291"/>
                </a:solidFill>
                <a:latin typeface="Yu Gothic"/>
              </a:defRPr>
            </a:pPr>
            <a:r>
              <a:t>確認内容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9067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顧客名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8386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申請元会社名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7705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対象明細の有無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7024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291"/>
                </a:solidFill>
                <a:latin typeface="Yu Gothic"/>
              </a:defRPr>
            </a:pPr>
            <a:r>
              <a:t>現状課題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27248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件数増加に伴い確認工数が増加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30752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確認漏れのリスク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334256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担当者による判断差異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2800" b="1">
                <a:solidFill>
                  <a:srgbClr val="182D4D"/>
                </a:solidFill>
                <a:latin typeface="Yu Gothic"/>
              </a:defRPr>
            </a:pPr>
            <a:r>
              <a:t>改善業務フロー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10881360" cy="36576"/>
          </a:xfrm>
          <a:prstGeom prst="rect">
            <a:avLst/>
          </a:prstGeom>
          <a:solidFill>
            <a:srgbClr val="165E84"/>
          </a:solidFill>
          <a:ln w="11430">
            <a:solidFill>
              <a:srgbClr val="16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00" b="0">
                <a:solidFill>
                  <a:srgbClr val="646E78"/>
                </a:solidFill>
                <a:latin typeface="Yu Gothic"/>
              </a:defRPr>
            </a:pPr>
            <a: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1016"/>
            <a:ext cx="10789920" cy="4023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0">
                <a:solidFill>
                  <a:srgbClr val="4B5765"/>
                </a:solidFill>
                <a:latin typeface="Yu Gothic"/>
              </a:defRPr>
            </a:pPr>
            <a:r>
              <a:t>エビデンス確認業務：手動作業とプログラムによる自動化の比較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19656"/>
            <a:ext cx="4983480" cy="448056"/>
          </a:xfrm>
          <a:prstGeom prst="roundRect">
            <a:avLst/>
          </a:prstGeom>
          <a:solidFill>
            <a:srgbClr val="EBF0F5"/>
          </a:solidFill>
          <a:ln w="1143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69948"/>
            <a:ext cx="4663440" cy="33832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800" b="1">
                <a:solidFill>
                  <a:srgbClr val="182D4D"/>
                </a:solidFill>
                <a:latin typeface="Yu Gothic"/>
              </a:defRPr>
            </a:pPr>
            <a:r>
              <a:t>手動作業（Before）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9088" y="1819656"/>
            <a:ext cx="4983480" cy="448056"/>
          </a:xfrm>
          <a:prstGeom prst="roundRect">
            <a:avLst/>
          </a:prstGeom>
          <a:solidFill>
            <a:srgbClr val="E3F3EC"/>
          </a:solidFill>
          <a:ln w="11430">
            <a:solidFill>
              <a:srgbClr val="E3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69948"/>
            <a:ext cx="4663440" cy="33832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800" b="1">
                <a:solidFill>
                  <a:srgbClr val="186952"/>
                </a:solidFill>
                <a:latin typeface="Yu Gothic"/>
              </a:defRPr>
            </a:pPr>
            <a:r>
              <a:t>自動化（After）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450592"/>
            <a:ext cx="4617720" cy="43891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ACB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19172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82D4D"/>
                </a:solidFill>
                <a:latin typeface="Yu Gothic"/>
              </a:defRPr>
            </a:pPr>
            <a:r>
              <a:t>申請受付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894076"/>
            <a:ext cx="411480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300" b="1">
                <a:solidFill>
                  <a:srgbClr val="ACBACA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099816"/>
            <a:ext cx="4617720" cy="43891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ACB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68396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82D4D"/>
                </a:solidFill>
                <a:latin typeface="Yu Gothic"/>
              </a:defRPr>
            </a:pPr>
            <a:r>
              <a:t>エビデンス確認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3543300"/>
            <a:ext cx="411480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300" b="1">
                <a:solidFill>
                  <a:srgbClr val="ACBACA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749039"/>
            <a:ext cx="4617720" cy="43891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ACB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17620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82D4D"/>
                </a:solidFill>
                <a:latin typeface="Yu Gothic"/>
              </a:defRPr>
            </a:pPr>
            <a:r>
              <a:t>会社名・顧客名の確認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4192524"/>
            <a:ext cx="411480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300" b="1">
                <a:solidFill>
                  <a:srgbClr val="ACBACA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398264"/>
            <a:ext cx="4617720" cy="43891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ACB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66844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82D4D"/>
                </a:solidFill>
                <a:latin typeface="Yu Gothic"/>
              </a:defRPr>
            </a:pPr>
            <a:r>
              <a:t>金額確認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4841748"/>
            <a:ext cx="411480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300" b="1">
                <a:solidFill>
                  <a:srgbClr val="ACBACA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047488"/>
            <a:ext cx="4617720" cy="43891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ACB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116068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82D4D"/>
                </a:solidFill>
                <a:latin typeface="Yu Gothic"/>
              </a:defRPr>
            </a:pPr>
            <a:r>
              <a:t>判定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1968" y="2450592"/>
            <a:ext cx="4617720" cy="438912"/>
          </a:xfrm>
          <a:prstGeom prst="roundRect">
            <a:avLst/>
          </a:prstGeom>
          <a:solidFill>
            <a:srgbClr val="F9FDFB"/>
          </a:solidFill>
          <a:ln w="11430">
            <a:solidFill>
              <a:srgbClr val="6FA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519172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E5B4B"/>
                </a:solidFill>
                <a:latin typeface="Yu Gothic"/>
              </a:defRPr>
            </a:pPr>
            <a:r>
              <a:t>申請受付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2894076"/>
            <a:ext cx="411480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300" b="1">
                <a:solidFill>
                  <a:srgbClr val="6FAB97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1968" y="3099816"/>
            <a:ext cx="4617720" cy="438912"/>
          </a:xfrm>
          <a:prstGeom prst="roundRect">
            <a:avLst/>
          </a:prstGeom>
          <a:solidFill>
            <a:srgbClr val="F9FDFB"/>
          </a:solidFill>
          <a:ln w="11430">
            <a:solidFill>
              <a:srgbClr val="6FA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7" y="3168396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E5B4B"/>
                </a:solidFill>
                <a:latin typeface="Yu Gothic"/>
              </a:defRPr>
            </a:pPr>
            <a:r>
              <a:t>プログラム実行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3543300"/>
            <a:ext cx="411480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300" b="1">
                <a:solidFill>
                  <a:srgbClr val="6FAB97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3749039"/>
            <a:ext cx="4617720" cy="438912"/>
          </a:xfrm>
          <a:prstGeom prst="roundRect">
            <a:avLst/>
          </a:prstGeom>
          <a:solidFill>
            <a:srgbClr val="F9FDFB"/>
          </a:solidFill>
          <a:ln w="11430">
            <a:solidFill>
              <a:srgbClr val="6FA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3817620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E5B4B"/>
                </a:solidFill>
                <a:latin typeface="Yu Gothic"/>
              </a:defRPr>
            </a:pPr>
            <a:r>
              <a:t>会社名・顧客名・金額を取得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376" y="4192524"/>
            <a:ext cx="411480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300" b="1">
                <a:solidFill>
                  <a:srgbClr val="6FAB97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01968" y="4398264"/>
            <a:ext cx="4617720" cy="438912"/>
          </a:xfrm>
          <a:prstGeom prst="roundRect">
            <a:avLst/>
          </a:prstGeom>
          <a:solidFill>
            <a:srgbClr val="F9FDFB"/>
          </a:solidFill>
          <a:ln w="11430">
            <a:solidFill>
              <a:srgbClr val="6FA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7" y="4466844"/>
            <a:ext cx="4434840" cy="3017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600" b="0">
                <a:solidFill>
                  <a:srgbClr val="1E5B4B"/>
                </a:solidFill>
                <a:latin typeface="Yu Gothic"/>
              </a:defRPr>
            </a:pPr>
            <a:r>
              <a:t>判定結果を出力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779008"/>
            <a:ext cx="10625328" cy="402336"/>
          </a:xfrm>
          <a:prstGeom prst="roundRect">
            <a:avLst/>
          </a:prstGeom>
          <a:solidFill>
            <a:srgbClr val="ECF2F8"/>
          </a:solidFill>
          <a:ln w="11430"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847588"/>
            <a:ext cx="10241280" cy="25603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defRPr sz="1400" b="1">
                <a:solidFill>
                  <a:srgbClr val="182D4D"/>
                </a:solidFill>
                <a:latin typeface="Yu Gothic"/>
              </a:defRPr>
            </a:pPr>
            <a:r>
              <a:t>改善ポイント：個別の目視確認・判定をプログラムで一括処理し、確認工数と確認漏れリスクの低減を図る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