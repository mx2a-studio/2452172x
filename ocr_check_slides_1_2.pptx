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8314E"/>
                </a:solidFill>
                <a:latin typeface="Yu Gothic"/>
              </a:defRPr>
            </a:pPr>
            <a:r>
              <a:t>乗換キャッシュバック エビデンスOCRチェックツール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69848"/>
            <a:ext cx="10881360" cy="32004"/>
          </a:xfrm>
          <a:prstGeom prst="rect">
            <a:avLst/>
          </a:prstGeom>
          <a:solidFill>
            <a:srgbClr val="0082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34E5B"/>
                </a:solidFill>
                <a:latin typeface="Yu Gothic"/>
              </a:defRPr>
            </a:pPr>
            <a:r>
              <a:t>1 /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08291"/>
                </a:solidFill>
                <a:latin typeface="Yu Gothic"/>
              </a:defRPr>
            </a:pPr>
            <a:r>
              <a:t>目的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8314E"/>
                </a:solidFill>
                <a:latin typeface="Yu Gothic"/>
              </a:defRPr>
            </a:pPr>
            <a:r>
              <a:t>エビデンス確認業務の効率化およびチェック品質の向上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806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434E5B"/>
                </a:solidFill>
                <a:latin typeface="Yu Gothic"/>
              </a:defRPr>
            </a:pPr>
            <a:r>
              <a:t>作成者：浅井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8314E"/>
                </a:solidFill>
                <a:latin typeface="Yu Gothic"/>
              </a:defRPr>
            </a:pPr>
            <a:r>
              <a:t>背景・課題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69848"/>
            <a:ext cx="10881360" cy="32004"/>
          </a:xfrm>
          <a:prstGeom prst="rect">
            <a:avLst/>
          </a:prstGeom>
          <a:solidFill>
            <a:srgbClr val="0082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34E5B"/>
                </a:solidFill>
                <a:latin typeface="Yu Gothic"/>
              </a:defRPr>
            </a:pPr>
            <a:r>
              <a:t>2 /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8291"/>
                </a:solidFill>
                <a:latin typeface="Yu Gothic"/>
              </a:defRPr>
            </a:pPr>
            <a:r>
              <a:t>現状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10512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434E5B"/>
                </a:solidFill>
                <a:latin typeface="Yu Gothic"/>
              </a:defRPr>
            </a:pPr>
            <a:r>
              <a:t>エビデンス（PDF・画像）について、担当者が目視で確認を行っている。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51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8291"/>
                </a:solidFill>
                <a:latin typeface="Yu Gothic"/>
              </a:defRPr>
            </a:pPr>
            <a:r>
              <a:t>確認内容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090672"/>
            <a:ext cx="4572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434E5B"/>
                </a:solidFill>
                <a:latin typeface="Yu Gothic"/>
              </a:defRPr>
            </a:pPr>
            <a:r>
              <a:t>•  顧客名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483864"/>
            <a:ext cx="4572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434E5B"/>
                </a:solidFill>
                <a:latin typeface="Yu Gothic"/>
              </a:defRPr>
            </a:pPr>
            <a:r>
              <a:t>•  申請元会社名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877056"/>
            <a:ext cx="4572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434E5B"/>
                </a:solidFill>
                <a:latin typeface="Yu Gothic"/>
              </a:defRPr>
            </a:pPr>
            <a:r>
              <a:t>•  対象明細の有無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270248"/>
            <a:ext cx="4572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434E5B"/>
                </a:solidFill>
                <a:latin typeface="Yu Gothic"/>
              </a:defRPr>
            </a:pPr>
            <a:r>
              <a:t>•  金額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651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8291"/>
                </a:solidFill>
                <a:latin typeface="Yu Gothic"/>
              </a:defRPr>
            </a:pPr>
            <a:r>
              <a:t>現状課題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127248"/>
            <a:ext cx="49377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434E5B"/>
                </a:solidFill>
                <a:latin typeface="Yu Gothic"/>
              </a:defRPr>
            </a:pPr>
            <a:r>
              <a:t>•  件数増加に伴い確認工数が増加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730752"/>
            <a:ext cx="49377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434E5B"/>
                </a:solidFill>
                <a:latin typeface="Yu Gothic"/>
              </a:defRPr>
            </a:pPr>
            <a:r>
              <a:t>•  確認漏れのリスク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334256"/>
            <a:ext cx="49377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434E5B"/>
                </a:solidFill>
                <a:latin typeface="Yu Gothic"/>
              </a:defRPr>
            </a:pPr>
            <a:r>
              <a:t>•  担当者による判断差異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